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embeddedFontLst>
    <p:embeddedFont>
      <p:font typeface="Basic" panose="020B0604020202020204" charset="0"/>
      <p:regular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6" roundtripDataSignature="AMtx7mhzb32Ef20bFsHgUsdn1BL7zqjK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C86F0E-835C-4E2F-BAB1-F2CFF783B68F}">
  <a:tblStyle styleId="{EAC86F0E-835C-4E2F-BAB1-F2CFF783B68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8A25BBD-FB24-44DB-8FB8-BE6CBC7F0428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3e1cf4600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g3c3e1cf460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dc33ae27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g3cdc33ae27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g3cdc33ae274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dc33ae274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g3cdc33ae274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g3cdc33ae274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dc33ae274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g3cdc33ae274_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g3cdc33ae274_0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dc81bc4c8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3cdc81bc4c8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g3cdc81bc4c8_0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3e1cf4600_0_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0" name="Google Shape;140;g3c3e1cf4600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3e1cf4600_0_1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3c3e1cf4600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3e1cf4600_0_2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g3c3e1cf4600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dc81bc4c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3cdc81bc4c8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g3cdc81bc4c8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c3e1cf4600_0_5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3c3e1cf4600_0_5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" name="Google Shape;177;g3c3e1cf4600_0_5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cdc81bc4c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g3cdc81bc4c8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4" name="Google Shape;184;g3cdc81bc4c8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cdc81bc4c8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g3cdc81bc4c8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g3cdc81bc4c8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cdc81bc4c8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g3cdc81bc4c8_1_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1" name="Google Shape;201;g3cdc81bc4c8_1_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c3e1cf4600_0_5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3c3e1cf4600_0_5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9" name="Google Shape;209;g3c3e1cf4600_0_5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c3e1cf4600_0_5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g3c3e1cf4600_0_5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7" name="Google Shape;217;g3c3e1cf4600_0_5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c3e1cf4600_0_6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c3e1cf4600_0_6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7" name="Google Shape;227;g3c3e1cf4600_0_6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c3e1cf4600_0_6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g3c3e1cf4600_0_6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8" name="Google Shape;238;g3c3e1cf4600_0_6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bd10703013_0_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3bd10703013_0_2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7" name="Google Shape;247;g3bd10703013_0_2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bd129c624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g3bd129c6247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6" name="Google Shape;256;g3bd129c6247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bd2ce038e5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g3bd2ce038e5_0_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6" name="Google Shape;266;g3bd2ce038e5_0_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bd1070301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g3bd1070301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6" name="Google Shape;276;g3bd10703013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c6010fcbdd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g3c6010fcbdd_0_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5" name="Google Shape;285;g3c6010fcbdd_0_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c577f268a3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g3c577f268a3_0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3" name="Google Shape;293;g3c577f268a3_0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ce4bbea45e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g3ce4bbea45e_1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2" name="Google Shape;302;g3ce4bbea45e_1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ce4bbea45e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g3ce4bbea45e_1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2" name="Google Shape;312;g3ce4bbea45e_1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cdc81bc4c8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1" name="Google Shape;321;g3cdc81bc4c8_1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2" name="Google Shape;322;g3cdc81bc4c8_1_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c577f268a3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9" name="Google Shape;329;g3c577f268a3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0" name="Google Shape;330;g3c577f268a3_0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c577f268a3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3c577f268a3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9" name="Google Shape;339;g3c577f268a3_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1733265" y="365125"/>
            <a:ext cx="10099343" cy="1325563"/>
          </a:xfrm>
          <a:prstGeom prst="rect">
            <a:avLst/>
          </a:prstGeom>
          <a:solidFill>
            <a:srgbClr val="A5002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body" idx="1"/>
          </p:nvPr>
        </p:nvSpPr>
        <p:spPr>
          <a:xfrm>
            <a:off x="286603" y="1825625"/>
            <a:ext cx="11546006" cy="4351338"/>
          </a:xfrm>
          <a:prstGeom prst="rect">
            <a:avLst/>
          </a:prstGeom>
          <a:noFill/>
          <a:ln w="9525" cap="flat" cmpd="sng">
            <a:solidFill>
              <a:srgbClr val="A500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CC"/>
              </a:buClr>
              <a:buSzPts val="2800"/>
              <a:buChar char="•"/>
              <a:defRPr sz="2800">
                <a:solidFill>
                  <a:srgbClr val="0000CC"/>
                </a:solidFill>
                <a:latin typeface="Basic"/>
                <a:ea typeface="Basic"/>
                <a:cs typeface="Basic"/>
                <a:sym typeface="Basic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CC"/>
              </a:buClr>
              <a:buSzPts val="2800"/>
              <a:buChar char="•"/>
              <a:defRPr sz="2800">
                <a:solidFill>
                  <a:srgbClr val="0000CC"/>
                </a:solidFill>
                <a:latin typeface="Basic"/>
                <a:ea typeface="Basic"/>
                <a:cs typeface="Basic"/>
                <a:sym typeface="Basic"/>
              </a:defRPr>
            </a:lvl2pPr>
            <a:lvl3pPr marL="1371600" lvl="2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CC"/>
              </a:buClr>
              <a:buSzPts val="2800"/>
              <a:buChar char="•"/>
              <a:defRPr sz="2800">
                <a:solidFill>
                  <a:srgbClr val="0000CC"/>
                </a:solidFill>
                <a:latin typeface="Basic"/>
                <a:ea typeface="Basic"/>
                <a:cs typeface="Basic"/>
                <a:sym typeface="Basic"/>
              </a:defRPr>
            </a:lvl3pPr>
            <a:lvl4pPr marL="1828800" lvl="3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CC"/>
              </a:buClr>
              <a:buSzPts val="2800"/>
              <a:buChar char="•"/>
              <a:defRPr sz="2800">
                <a:solidFill>
                  <a:srgbClr val="0000CC"/>
                </a:solidFill>
                <a:latin typeface="Basic"/>
                <a:ea typeface="Basic"/>
                <a:cs typeface="Basic"/>
                <a:sym typeface="Basic"/>
              </a:defRPr>
            </a:lvl4pPr>
            <a:lvl5pPr marL="2286000" lvl="4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CC"/>
              </a:buClr>
              <a:buSzPts val="2800"/>
              <a:buChar char="•"/>
              <a:defRPr sz="2800">
                <a:solidFill>
                  <a:srgbClr val="0000CC"/>
                </a:solidFill>
                <a:latin typeface="Basic"/>
                <a:ea typeface="Basic"/>
                <a:cs typeface="Basic"/>
                <a:sym typeface="Basic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dt" idx="10"/>
          </p:nvPr>
        </p:nvSpPr>
        <p:spPr>
          <a:xfrm>
            <a:off x="361665" y="6356350"/>
            <a:ext cx="123512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ftr" idx="11"/>
          </p:nvPr>
        </p:nvSpPr>
        <p:spPr>
          <a:xfrm>
            <a:off x="3889042" y="6356349"/>
            <a:ext cx="57877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11300345" y="6311900"/>
            <a:ext cx="5299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" name="Google Shape;21;p7" descr="See the source imag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16524" y="320675"/>
            <a:ext cx="1178182" cy="1325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hyperlink" Target="http://drive.google.com/file/d/1qKNYS9fmBms-H7g1MlS5NKRLgt-czTlv/view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DK63AotnbpPzD-01BPftCDF6AHsMN8u5/view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hyperlink" Target="http://drive.google.com/file/d/16bWZ752QYrPU6hT4Btl_Ol74q_AOvrbf/view" TargetMode="External"/><Relationship Id="rId4" Type="http://schemas.openxmlformats.org/officeDocument/2006/relationships/image" Target="../media/image11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g"/><Relationship Id="rId4" Type="http://schemas.openxmlformats.org/officeDocument/2006/relationships/hyperlink" Target="http://drive.google.com/file/d/1pX_Ec8J90xfcfOrxBVJW6dRUw1cJRLrd/view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jpg"/><Relationship Id="rId4" Type="http://schemas.openxmlformats.org/officeDocument/2006/relationships/hyperlink" Target="http://drive.google.com/file/d/16TiQrm1Lev4lPgmlO3ylewVBFNRos3OF/view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vhg.cmp.uea.ac.uk/demo/LinguaSign/SignFiles/Hello1n.LSN.sigml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jpg"/><Relationship Id="rId4" Type="http://schemas.openxmlformats.org/officeDocument/2006/relationships/hyperlink" Target="http://drive.google.com/file/d/14tjlz9ZLty-NwKcSvJsGNB5Vlgta5cJj/view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dpi.com/2414-4088/7/10/97" TargetMode="External"/><Relationship Id="rId3" Type="http://schemas.openxmlformats.org/officeDocument/2006/relationships/hyperlink" Target="https://aclanthology.org/W04-1601.pdf" TargetMode="External"/><Relationship Id="rId7" Type="http://schemas.openxmlformats.org/officeDocument/2006/relationships/hyperlink" Target="https://arxiv.org/abs/2211.13613" TargetMode="External"/><Relationship Id="rId12" Type="http://schemas.openxmlformats.org/officeDocument/2006/relationships/hyperlink" Target="https://aclanthology.org/2023.acl-long.257.pdf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clanthology.org/2020.signlang-1.34.pdf" TargetMode="External"/><Relationship Id="rId11" Type="http://schemas.openxmlformats.org/officeDocument/2006/relationships/hyperlink" Target="https://thesai.org/Publications/ViewPaper?Volume=7&amp;Issue=5&amp;Code=IJACSA&amp;SerialNo=18" TargetMode="External"/><Relationship Id="rId5" Type="http://schemas.openxmlformats.org/officeDocument/2006/relationships/hyperlink" Target="https://arxiv.org/abs/2011.09846" TargetMode="External"/><Relationship Id="rId10" Type="http://schemas.openxmlformats.org/officeDocument/2006/relationships/hyperlink" Target="https://www.sciencedirect.com/science/article/pii/S0097849323000557" TargetMode="External"/><Relationship Id="rId4" Type="http://schemas.openxmlformats.org/officeDocument/2006/relationships/hyperlink" Target="https://www.researchgate.net/publication/306362600_HamNoSys_to_SiGML_Conversion_System_for_Sign_Language_Automation" TargetMode="External"/><Relationship Id="rId9" Type="http://schemas.openxmlformats.org/officeDocument/2006/relationships/hyperlink" Target="https://ieeexplore.ieee.org/document/10294272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3e1cf4600_0_0"/>
          <p:cNvSpPr txBox="1">
            <a:spLocks noGrp="1"/>
          </p:cNvSpPr>
          <p:nvPr>
            <p:ph type="dt" idx="10"/>
          </p:nvPr>
        </p:nvSpPr>
        <p:spPr>
          <a:xfrm>
            <a:off x="361665" y="6356350"/>
            <a:ext cx="1235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04-02-2026</a:t>
            </a:r>
            <a:endParaRPr/>
          </a:p>
        </p:txBody>
      </p:sp>
      <p:sp>
        <p:nvSpPr>
          <p:cNvPr id="90" name="Google Shape;90;g3c3e1cf4600_0_0"/>
          <p:cNvSpPr txBox="1">
            <a:spLocks noGrp="1"/>
          </p:cNvSpPr>
          <p:nvPr>
            <p:ph type="ftr" idx="11"/>
          </p:nvPr>
        </p:nvSpPr>
        <p:spPr>
          <a:xfrm>
            <a:off x="3889042" y="6356349"/>
            <a:ext cx="5787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Project Review – Phase 2</a:t>
            </a:r>
            <a:endParaRPr/>
          </a:p>
        </p:txBody>
      </p:sp>
      <p:sp>
        <p:nvSpPr>
          <p:cNvPr id="91" name="Google Shape;91;g3c3e1cf4600_0_0"/>
          <p:cNvSpPr txBox="1">
            <a:spLocks noGrp="1"/>
          </p:cNvSpPr>
          <p:nvPr>
            <p:ph type="sldNum" idx="12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92" name="Google Shape;92;g3c3e1cf4600_0_0"/>
          <p:cNvSpPr txBox="1"/>
          <p:nvPr/>
        </p:nvSpPr>
        <p:spPr>
          <a:xfrm>
            <a:off x="2895600" y="2736575"/>
            <a:ext cx="6400800" cy="604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2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Guide:</a:t>
            </a:r>
            <a:r>
              <a:rPr lang="en-US" sz="27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Ms.Nalinadevi K, Assistant Professor (Sl.Gd.) </a:t>
            </a:r>
            <a:endParaRPr sz="2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3" name="Google Shape;93;g3c3e1cf4600_0_0"/>
          <p:cNvGraphicFramePr/>
          <p:nvPr/>
        </p:nvGraphicFramePr>
        <p:xfrm>
          <a:off x="2743200" y="4198938"/>
          <a:ext cx="6705600" cy="2123490"/>
        </p:xfrm>
        <a:graphic>
          <a:graphicData uri="http://schemas.openxmlformats.org/drawingml/2006/table">
            <a:tbl>
              <a:tblPr firstRow="1" bandRow="1">
                <a:noFill/>
                <a:tableStyleId>{EAC86F0E-835C-4E2F-BAB1-F2CFF783B68F}</a:tableStyleId>
              </a:tblPr>
              <a:tblGrid>
                <a:gridCol w="117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3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 NO.</a:t>
                      </a:r>
                      <a:endParaRPr sz="1800" u="none" strike="noStrike" cap="none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 sz="1800" u="none" strike="noStrike" cap="none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Roll No</a:t>
                      </a:r>
                      <a:endParaRPr sz="1800" u="none" strike="noStrike" cap="none">
                        <a:solidFill>
                          <a:schemeClr val="dk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Soma Siva Pravallika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CB.EN.U4CSE22440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Sribhashyam Indira Satya Sri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CB.EN.U4CSE22441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Oruganti Sravani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CB.EN.U4CSE22457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Dasari Vamsi Krishna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CB.EN.U4CSE22458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4" name="Google Shape;94;g3c3e1cf4600_0_0"/>
          <p:cNvSpPr txBox="1"/>
          <p:nvPr/>
        </p:nvSpPr>
        <p:spPr>
          <a:xfrm>
            <a:off x="2225250" y="543870"/>
            <a:ext cx="8579400" cy="21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en-US" sz="2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 HamNoSys Generation from Sign Language Videos using Handshape, Orientation, Location, and Movement Learning with Avatar-Based Verification</a:t>
            </a:r>
            <a:endParaRPr sz="2600" b="0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g3c3e1cf4600_0_0"/>
          <p:cNvSpPr txBox="1"/>
          <p:nvPr/>
        </p:nvSpPr>
        <p:spPr>
          <a:xfrm>
            <a:off x="9347200" y="381000"/>
            <a:ext cx="2133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c3e1cf4600_0_0"/>
          <p:cNvSpPr txBox="1"/>
          <p:nvPr/>
        </p:nvSpPr>
        <p:spPr>
          <a:xfrm>
            <a:off x="5019150" y="2274875"/>
            <a:ext cx="241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Group_No: 14</a:t>
            </a:r>
            <a:endParaRPr sz="2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dc33ae274_0_0"/>
          <p:cNvSpPr txBox="1">
            <a:spLocks noGrp="1"/>
          </p:cNvSpPr>
          <p:nvPr>
            <p:ph type="body" idx="1"/>
          </p:nvPr>
        </p:nvSpPr>
        <p:spPr>
          <a:xfrm>
            <a:off x="941300" y="1694600"/>
            <a:ext cx="9940200" cy="4044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746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•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 language is a visual communication system.</a:t>
            </a:r>
            <a:b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74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•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regions have different sign languages.</a:t>
            </a:r>
            <a:b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74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•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standardized writing system for sign language.</a:t>
            </a:r>
            <a:b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74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•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HamNoSys represents signs using symbolic notation.</a:t>
            </a:r>
            <a:b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74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•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transcription is slow, so automation is needed.</a:t>
            </a:r>
            <a:b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746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•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systems can generate HamNoSys from sign videos.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g3cdc33ae274_0_0"/>
          <p:cNvSpPr txBox="1">
            <a:spLocks noGrp="1"/>
          </p:cNvSpPr>
          <p:nvPr>
            <p:ph type="sldNum" idx="12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04" name="Google Shape;104;g3cdc33ae274_0_0"/>
          <p:cNvSpPr txBox="1"/>
          <p:nvPr/>
        </p:nvSpPr>
        <p:spPr>
          <a:xfrm>
            <a:off x="2294900" y="693800"/>
            <a:ext cx="8259000" cy="7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</a:t>
            </a:r>
            <a:r>
              <a:rPr lang="en-US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3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>
            <a:spLocks noGrp="1"/>
          </p:cNvSpPr>
          <p:nvPr>
            <p:ph type="title"/>
          </p:nvPr>
        </p:nvSpPr>
        <p:spPr>
          <a:xfrm>
            <a:off x="2312900" y="365125"/>
            <a:ext cx="79875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110" name="Google Shape;110;p3"/>
          <p:cNvSpPr txBox="1">
            <a:spLocks noGrp="1"/>
          </p:cNvSpPr>
          <p:nvPr>
            <p:ph type="body" idx="1"/>
          </p:nvPr>
        </p:nvSpPr>
        <p:spPr>
          <a:xfrm>
            <a:off x="1046400" y="2305350"/>
            <a:ext cx="10099200" cy="2247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develop an automatic system that generates HamNoSys from sign language videos by modeling handshape combinations, orientation, location, and movement, and verifies its accuracy through avatar-based verification.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3"/>
          <p:cNvSpPr txBox="1">
            <a:spLocks noGrp="1"/>
          </p:cNvSpPr>
          <p:nvPr>
            <p:ph type="dt" idx="10"/>
          </p:nvPr>
        </p:nvSpPr>
        <p:spPr>
          <a:xfrm>
            <a:off x="361665" y="6356350"/>
            <a:ext cx="123512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04-02-2026</a:t>
            </a:r>
            <a:endParaRPr/>
          </a:p>
        </p:txBody>
      </p:sp>
      <p:sp>
        <p:nvSpPr>
          <p:cNvPr id="112" name="Google Shape;112;p3"/>
          <p:cNvSpPr txBox="1">
            <a:spLocks noGrp="1"/>
          </p:cNvSpPr>
          <p:nvPr>
            <p:ph type="ftr" idx="11"/>
          </p:nvPr>
        </p:nvSpPr>
        <p:spPr>
          <a:xfrm>
            <a:off x="3889042" y="6356349"/>
            <a:ext cx="57877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Project Review – Phase 1</a:t>
            </a:r>
            <a:endParaRPr/>
          </a:p>
        </p:txBody>
      </p:sp>
      <p:sp>
        <p:nvSpPr>
          <p:cNvPr id="113" name="Google Shape;113;p3"/>
          <p:cNvSpPr txBox="1">
            <a:spLocks noGrp="1"/>
          </p:cNvSpPr>
          <p:nvPr>
            <p:ph type="sldNum" idx="12"/>
          </p:nvPr>
        </p:nvSpPr>
        <p:spPr>
          <a:xfrm>
            <a:off x="11300345" y="6311900"/>
            <a:ext cx="5299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dc33ae274_0_21"/>
          <p:cNvSpPr txBox="1">
            <a:spLocks noGrp="1"/>
          </p:cNvSpPr>
          <p:nvPr>
            <p:ph type="body" idx="1"/>
          </p:nvPr>
        </p:nvSpPr>
        <p:spPr>
          <a:xfrm>
            <a:off x="1005550" y="2001075"/>
            <a:ext cx="10294800" cy="3786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no widely used writing system to represent sign language digitally for deaf and hard-of-hearing people.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HamNoSys provides a symbolic notation, but manual transcription is slow and requires expert knowledge.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datasets with HamNoSys annotations are very limited, making automatic generation challenging.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automatic system that converts sign images/videos into HamNoSys can help in research, education, and sign language technology.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Avatar-based verification can help ensure that generated HamNoSys correctly represents the original sign.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g3cdc33ae274_0_21"/>
          <p:cNvSpPr txBox="1">
            <a:spLocks noGrp="1"/>
          </p:cNvSpPr>
          <p:nvPr>
            <p:ph type="sldNum" idx="12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21" name="Google Shape;121;g3cdc33ae274_0_21"/>
          <p:cNvSpPr txBox="1"/>
          <p:nvPr/>
        </p:nvSpPr>
        <p:spPr>
          <a:xfrm>
            <a:off x="2536950" y="435625"/>
            <a:ext cx="6811500" cy="7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</a:t>
            </a:r>
            <a:r>
              <a:rPr lang="en-US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Motivation</a:t>
            </a:r>
            <a:endParaRPr sz="3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dc33ae274_0_28"/>
          <p:cNvSpPr txBox="1">
            <a:spLocks noGrp="1"/>
          </p:cNvSpPr>
          <p:nvPr>
            <p:ph type="body" idx="1"/>
          </p:nvPr>
        </p:nvSpPr>
        <p:spPr>
          <a:xfrm>
            <a:off x="779925" y="1694475"/>
            <a:ext cx="10520400" cy="4982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32500"/>
          </a:bodyPr>
          <a:lstStyle/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374581"/>
              <a:buNone/>
            </a:pP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63568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9984"/>
              <a:buFont typeface="Arial"/>
              <a:buChar char="•"/>
            </a:pPr>
            <a:r>
              <a:rPr lang="en-US" sz="653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6537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 dataset</a:t>
            </a:r>
            <a:r>
              <a:rPr lang="en-US" sz="653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was created because no public dataset exists for HamNoSys handshape combinations.</a:t>
            </a:r>
            <a:endParaRPr sz="653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6356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9984"/>
              <a:buFont typeface="Arial"/>
              <a:buChar char="•"/>
            </a:pPr>
            <a:r>
              <a:rPr lang="en-US" sz="653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dataset contains </a:t>
            </a:r>
            <a:r>
              <a:rPr lang="en-US" sz="6537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149 </a:t>
            </a:r>
            <a:r>
              <a:rPr lang="en-US" sz="653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HamNoSys handshape combinations</a:t>
            </a:r>
            <a:r>
              <a:rPr lang="en-US" sz="6537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US" sz="653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653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6356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9984"/>
              <a:buFont typeface="Times New Roman"/>
              <a:buChar char="•"/>
            </a:pPr>
            <a:r>
              <a:rPr lang="en-US" sz="653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each combination, custom hand images were captured and labeled.</a:t>
            </a:r>
            <a:br>
              <a:rPr lang="en-US" sz="653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653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5086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0574"/>
              <a:buFont typeface="Arial"/>
              <a:buChar char="•"/>
            </a:pPr>
            <a:r>
              <a:rPr lang="en-US" sz="653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Images were organized into folders based on the handshape combination (e.g., </a:t>
            </a:r>
            <a:r>
              <a:rPr lang="en-US" sz="6537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hamfist + hamthumbopenmod</a:t>
            </a:r>
            <a:r>
              <a:rPr lang="en-US" sz="653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</a:t>
            </a:r>
            <a:endParaRPr sz="62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6356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9984"/>
              <a:buFont typeface="Times New Roman"/>
              <a:buChar char="•"/>
            </a:pPr>
            <a:r>
              <a:rPr lang="en-US" sz="653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structured CSV mapping file stores:</a:t>
            </a:r>
            <a:endParaRPr sz="653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456"/>
              <a:buNone/>
            </a:pPr>
            <a:r>
              <a:rPr lang="en-US" sz="592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Combination → Handshape combination name</a:t>
            </a:r>
            <a:endParaRPr sz="592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45456"/>
              <a:buNone/>
            </a:pPr>
            <a:r>
              <a:rPr lang="en-US" sz="592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Command → Corresponding HamNoSys symbolic code</a:t>
            </a:r>
            <a:endParaRPr sz="592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ct val="145456"/>
              <a:buNone/>
            </a:pPr>
            <a:r>
              <a:rPr lang="en-US" sz="5923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Hex Codes → Unicode/Hex values for rendering</a:t>
            </a:r>
            <a:endParaRPr sz="5923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g3cdc33ae274_0_28"/>
          <p:cNvSpPr txBox="1">
            <a:spLocks noGrp="1"/>
          </p:cNvSpPr>
          <p:nvPr>
            <p:ph type="sldNum" idx="12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29" name="Google Shape;129;g3cdc33ae274_0_28"/>
          <p:cNvSpPr txBox="1"/>
          <p:nvPr/>
        </p:nvSpPr>
        <p:spPr>
          <a:xfrm>
            <a:off x="2262625" y="435625"/>
            <a:ext cx="8259000" cy="7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</a:t>
            </a:r>
            <a:r>
              <a:rPr lang="en-US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 description </a:t>
            </a:r>
            <a:endParaRPr sz="3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dc81bc4c8_0_3"/>
          <p:cNvSpPr txBox="1">
            <a:spLocks noGrp="1"/>
          </p:cNvSpPr>
          <p:nvPr>
            <p:ph type="title"/>
          </p:nvPr>
        </p:nvSpPr>
        <p:spPr>
          <a:xfrm>
            <a:off x="1733265" y="365125"/>
            <a:ext cx="10099200" cy="132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136" name="Google Shape;136;g3cdc81bc4c8_0_3"/>
          <p:cNvSpPr txBox="1">
            <a:spLocks noGrp="1"/>
          </p:cNvSpPr>
          <p:nvPr>
            <p:ph type="body" idx="1"/>
          </p:nvPr>
        </p:nvSpPr>
        <p:spPr>
          <a:xfrm>
            <a:off x="959525" y="1906300"/>
            <a:ext cx="10099200" cy="3420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lvl="1" indent="-361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augmentation (rotation, scaling, flipping) was applied to increase dataset size and improve model robustness.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61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MediaPipe Hands was used to extract 21 hand landmarks (x, y, z) from each image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61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extracted landmarks form feature vectors used for model training.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619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sample is labeled using the HamNoSys combination defined in the CSV mapping file.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g3cdc81bc4c8_0_3"/>
          <p:cNvSpPr txBox="1">
            <a:spLocks noGrp="1"/>
          </p:cNvSpPr>
          <p:nvPr>
            <p:ph type="sldNum" idx="12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3e1cf4600_0_97"/>
          <p:cNvSpPr txBox="1">
            <a:spLocks noGrp="1"/>
          </p:cNvSpPr>
          <p:nvPr>
            <p:ph type="title"/>
          </p:nvPr>
        </p:nvSpPr>
        <p:spPr>
          <a:xfrm>
            <a:off x="4095150" y="35775"/>
            <a:ext cx="4001700" cy="8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g3c3e1cf4600_0_97"/>
          <p:cNvSpPr txBox="1">
            <a:spLocks noGrp="1"/>
          </p:cNvSpPr>
          <p:nvPr>
            <p:ph type="dt" idx="10"/>
          </p:nvPr>
        </p:nvSpPr>
        <p:spPr>
          <a:xfrm>
            <a:off x="361665" y="6356350"/>
            <a:ext cx="1235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24-12-2025</a:t>
            </a:r>
            <a:endParaRPr/>
          </a:p>
        </p:txBody>
      </p:sp>
      <p:sp>
        <p:nvSpPr>
          <p:cNvPr id="144" name="Google Shape;144;g3c3e1cf4600_0_97"/>
          <p:cNvSpPr txBox="1">
            <a:spLocks noGrp="1"/>
          </p:cNvSpPr>
          <p:nvPr>
            <p:ph type="ftr" idx="11"/>
          </p:nvPr>
        </p:nvSpPr>
        <p:spPr>
          <a:xfrm>
            <a:off x="3889042" y="6356349"/>
            <a:ext cx="5787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Project Review – Phase 2</a:t>
            </a:r>
            <a:endParaRPr/>
          </a:p>
        </p:txBody>
      </p:sp>
      <p:sp>
        <p:nvSpPr>
          <p:cNvPr id="145" name="Google Shape;145;g3c3e1cf4600_0_97"/>
          <p:cNvSpPr txBox="1">
            <a:spLocks noGrp="1"/>
          </p:cNvSpPr>
          <p:nvPr>
            <p:ph type="sldNum" idx="12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graphicFrame>
        <p:nvGraphicFramePr>
          <p:cNvPr id="146" name="Google Shape;146;g3c3e1cf4600_0_97"/>
          <p:cNvGraphicFramePr/>
          <p:nvPr/>
        </p:nvGraphicFramePr>
        <p:xfrm>
          <a:off x="1798025" y="894075"/>
          <a:ext cx="9301075" cy="5531880"/>
        </p:xfrm>
        <a:graphic>
          <a:graphicData uri="http://schemas.openxmlformats.org/drawingml/2006/table">
            <a:tbl>
              <a:tblPr>
                <a:noFill/>
                <a:tableStyleId>{38A25BBD-FB24-44DB-8FB8-BE6CBC7F0428}</a:tableStyleId>
              </a:tblPr>
              <a:tblGrid>
                <a:gridCol w="97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56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Year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Authors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Contribution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2016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Kaur &amp; Kumar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HamNoSys → SiGML conversion for ISL animation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Only isolated signs, manual annotation required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2020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Saunders et al.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SignGAN: speech → photorealistic sign video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computational cost, needs large annotated datasets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2020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Goyal et al.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Grammar-based English → ISL animation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Rule-dependent, not scalable, ambiguity issues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2020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Skobov &amp; Lepage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Video → HamNoSys automatic annotation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Accuracy affected by video quality, finger/facial capture limited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2022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Shalev-Arkushin et al.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HamNoSys → 3D pose sequences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Needs HamNoSys expertise, coarticulation handling difficult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2023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Forte et al.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Linguistic priors + deep learning for video → avatar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Requires extensive linguistic modeling, high-quality videos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2023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Yu et al.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SignAvatars dataset: large-scale 3D motion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language coverage, facial expressions challenging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2023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Gil-Martín et al.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Motion generation from linguistic features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Needs accurate annotations, hard to scale to continuous signing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2023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Villa-Monedero et al.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 for motion generation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size &amp; coverage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2024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Krishnamurthy et al.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DiffSign: diffusion model for customizable sign videos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Computationally heavy, dataset scarcity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3e1cf4600_0_181"/>
          <p:cNvSpPr txBox="1">
            <a:spLocks noGrp="1"/>
          </p:cNvSpPr>
          <p:nvPr>
            <p:ph type="title"/>
          </p:nvPr>
        </p:nvSpPr>
        <p:spPr>
          <a:xfrm>
            <a:off x="1730201" y="387725"/>
            <a:ext cx="8948100" cy="10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Research Gap</a:t>
            </a:r>
            <a:endParaRPr/>
          </a:p>
        </p:txBody>
      </p:sp>
      <p:sp>
        <p:nvSpPr>
          <p:cNvPr id="152" name="Google Shape;152;g3c3e1cf4600_0_181"/>
          <p:cNvSpPr txBox="1">
            <a:spLocks noGrp="1"/>
          </p:cNvSpPr>
          <p:nvPr>
            <p:ph type="body" idx="1"/>
          </p:nvPr>
        </p:nvSpPr>
        <p:spPr>
          <a:xfrm>
            <a:off x="1196100" y="1765400"/>
            <a:ext cx="10192500" cy="4402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works focus mainly on isolated signs, while continuous sign streams remain underexplored.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 systems depend heavily on manual annotation or handcrafted grammar rules, making them slow and error-prone.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systems lack a verification mechanism to check correctness of generated HamNoSys against the original signing.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Location modeling is often coarse or absent, with insufficient differentiation between head, face, torso, neutral space, and fine-grained contact regions.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systems do not accurately capture movement types (straight, curved, circular, inward/outward, diagonal), which are critical components of HamNoSys representation.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no integrated framework that jointly models handshape, orientation, location, and movement </a:t>
            </a: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(H–O–L–M)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video in a grammatically valid HamNoSys pipeline.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sign language datasets lack HamNoSys-level movement and location annotations, limiting supervised learning and scalable evaluation.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g3c3e1cf4600_0_181"/>
          <p:cNvSpPr txBox="1">
            <a:spLocks noGrp="1"/>
          </p:cNvSpPr>
          <p:nvPr>
            <p:ph type="dt" idx="10"/>
          </p:nvPr>
        </p:nvSpPr>
        <p:spPr>
          <a:xfrm>
            <a:off x="361665" y="6356350"/>
            <a:ext cx="1235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24-12-2025</a:t>
            </a:r>
            <a:endParaRPr/>
          </a:p>
        </p:txBody>
      </p:sp>
      <p:sp>
        <p:nvSpPr>
          <p:cNvPr id="154" name="Google Shape;154;g3c3e1cf4600_0_181"/>
          <p:cNvSpPr txBox="1">
            <a:spLocks noGrp="1"/>
          </p:cNvSpPr>
          <p:nvPr>
            <p:ph type="ftr" idx="11"/>
          </p:nvPr>
        </p:nvSpPr>
        <p:spPr>
          <a:xfrm>
            <a:off x="3889042" y="6356349"/>
            <a:ext cx="5787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Project Review – Phase 2</a:t>
            </a:r>
            <a:endParaRPr/>
          </a:p>
        </p:txBody>
      </p:sp>
      <p:sp>
        <p:nvSpPr>
          <p:cNvPr id="155" name="Google Shape;155;g3c3e1cf4600_0_181"/>
          <p:cNvSpPr txBox="1">
            <a:spLocks noGrp="1"/>
          </p:cNvSpPr>
          <p:nvPr>
            <p:ph type="sldNum" idx="12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3e1cf4600_0_272"/>
          <p:cNvSpPr txBox="1">
            <a:spLocks noGrp="1"/>
          </p:cNvSpPr>
          <p:nvPr>
            <p:ph type="title"/>
          </p:nvPr>
        </p:nvSpPr>
        <p:spPr>
          <a:xfrm>
            <a:off x="1730201" y="387725"/>
            <a:ext cx="8948100" cy="10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Objective </a:t>
            </a:r>
            <a:endParaRPr/>
          </a:p>
        </p:txBody>
      </p:sp>
      <p:sp>
        <p:nvSpPr>
          <p:cNvPr id="161" name="Google Shape;161;g3c3e1cf4600_0_272"/>
          <p:cNvSpPr txBox="1">
            <a:spLocks noGrp="1"/>
          </p:cNvSpPr>
          <p:nvPr>
            <p:ph type="body" idx="1"/>
          </p:nvPr>
        </p:nvSpPr>
        <p:spPr>
          <a:xfrm>
            <a:off x="1196100" y="1654425"/>
            <a:ext cx="10192500" cy="4008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Automatically find where the sign is made (head, face, chest, neutral space, hand-to-hand or hand-to-body) from sign language videos using body and hand landmarks.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rule-based logic to convert landmark distances and body zones into correct HamNoSys location symbols.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 how the hand moves (straight, curved, circular, diagonal, in or out) by tracking hand positions across video frames.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177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 continuous videos into movements and signs, so each sign’s movement and location are identified correctly.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800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g3c3e1cf4600_0_272"/>
          <p:cNvSpPr txBox="1">
            <a:spLocks noGrp="1"/>
          </p:cNvSpPr>
          <p:nvPr>
            <p:ph type="dt" idx="10"/>
          </p:nvPr>
        </p:nvSpPr>
        <p:spPr>
          <a:xfrm>
            <a:off x="361665" y="6356350"/>
            <a:ext cx="1235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24-12-2025</a:t>
            </a:r>
            <a:endParaRPr/>
          </a:p>
        </p:txBody>
      </p:sp>
      <p:sp>
        <p:nvSpPr>
          <p:cNvPr id="163" name="Google Shape;163;g3c3e1cf4600_0_272"/>
          <p:cNvSpPr txBox="1">
            <a:spLocks noGrp="1"/>
          </p:cNvSpPr>
          <p:nvPr>
            <p:ph type="ftr" idx="11"/>
          </p:nvPr>
        </p:nvSpPr>
        <p:spPr>
          <a:xfrm>
            <a:off x="3889042" y="6356349"/>
            <a:ext cx="5787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Project Review – Phase 2</a:t>
            </a:r>
            <a:endParaRPr/>
          </a:p>
        </p:txBody>
      </p:sp>
      <p:sp>
        <p:nvSpPr>
          <p:cNvPr id="164" name="Google Shape;164;g3c3e1cf4600_0_272"/>
          <p:cNvSpPr txBox="1">
            <a:spLocks noGrp="1"/>
          </p:cNvSpPr>
          <p:nvPr>
            <p:ph type="sldNum" idx="12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cdc81bc4c8_1_0"/>
          <p:cNvSpPr txBox="1">
            <a:spLocks noGrp="1"/>
          </p:cNvSpPr>
          <p:nvPr>
            <p:ph type="body" idx="1"/>
          </p:nvPr>
        </p:nvSpPr>
        <p:spPr>
          <a:xfrm>
            <a:off x="1812675" y="1694475"/>
            <a:ext cx="8754600" cy="49824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cdc81bc4c8_1_0"/>
          <p:cNvSpPr txBox="1">
            <a:spLocks noGrp="1"/>
          </p:cNvSpPr>
          <p:nvPr>
            <p:ph type="sldNum" idx="12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72" name="Google Shape;172;g3cdc81bc4c8_1_0"/>
          <p:cNvSpPr txBox="1"/>
          <p:nvPr/>
        </p:nvSpPr>
        <p:spPr>
          <a:xfrm>
            <a:off x="3700125" y="482850"/>
            <a:ext cx="49797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Proposed Work Plan</a:t>
            </a:r>
            <a:endParaRPr sz="4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g3cdc81bc4c8_1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8900" y="1694475"/>
            <a:ext cx="7154708" cy="473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3e1cf4600_0_528"/>
          <p:cNvSpPr txBox="1">
            <a:spLocks noGrp="1"/>
          </p:cNvSpPr>
          <p:nvPr>
            <p:ph type="sldNum" idx="12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80" name="Google Shape;180;g3c3e1cf4600_0_5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21675" y="136300"/>
            <a:ext cx="5741574" cy="672170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dc81bc4c8_0_10"/>
          <p:cNvSpPr txBox="1">
            <a:spLocks noGrp="1"/>
          </p:cNvSpPr>
          <p:nvPr>
            <p:ph type="title"/>
          </p:nvPr>
        </p:nvSpPr>
        <p:spPr>
          <a:xfrm>
            <a:off x="2151525" y="252175"/>
            <a:ext cx="8148900" cy="132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HandShape Module-Local Per Node Representation </a:t>
            </a:r>
            <a:endParaRPr/>
          </a:p>
        </p:txBody>
      </p:sp>
      <p:sp>
        <p:nvSpPr>
          <p:cNvPr id="187" name="Google Shape;187;g3cdc81bc4c8_0_10"/>
          <p:cNvSpPr txBox="1">
            <a:spLocks noGrp="1"/>
          </p:cNvSpPr>
          <p:nvPr>
            <p:ph type="body" idx="1"/>
          </p:nvPr>
        </p:nvSpPr>
        <p:spPr>
          <a:xfrm>
            <a:off x="844475" y="1825625"/>
            <a:ext cx="10521000" cy="4602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61949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Handshape is represented using a Local Per Node structure based on HamNoSys grammar.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handshape is decomposed into independent nodes to simplify recognition and improve scalability.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Nodes used in the model:</a:t>
            </a:r>
            <a:endParaRPr sz="21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49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– Basic Handshape: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Main hand configuration.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– Thumb Modifier: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Describes thumb position or modification.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– Finger Type: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Indicates finger bending or extension type.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– Finger Contact: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Specifies which fingers are involved in the sign.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– Extra (Optional):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Additional modifiers if present.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4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Directed Acyclic Graph (DAG) structure is used to represent valid handshape paths.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final HamNoSys handshape is generated by combining node outputs according to the DAG grammar.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g3cdc81bc4c8_0_10"/>
          <p:cNvSpPr txBox="1">
            <a:spLocks noGrp="1"/>
          </p:cNvSpPr>
          <p:nvPr>
            <p:ph type="sldNum" idx="12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dc81bc4c8_0_21"/>
          <p:cNvSpPr txBox="1">
            <a:spLocks noGrp="1"/>
          </p:cNvSpPr>
          <p:nvPr>
            <p:ph type="title"/>
          </p:nvPr>
        </p:nvSpPr>
        <p:spPr>
          <a:xfrm>
            <a:off x="1733265" y="365125"/>
            <a:ext cx="10099200" cy="132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195" name="Google Shape;195;g3cdc81bc4c8_0_21"/>
          <p:cNvSpPr txBox="1">
            <a:spLocks noGrp="1"/>
          </p:cNvSpPr>
          <p:nvPr>
            <p:ph type="body" idx="1"/>
          </p:nvPr>
        </p:nvSpPr>
        <p:spPr>
          <a:xfrm>
            <a:off x="286600" y="1690825"/>
            <a:ext cx="11546100" cy="4725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sp>
        <p:nvSpPr>
          <p:cNvPr id="196" name="Google Shape;196;g3cdc81bc4c8_0_21"/>
          <p:cNvSpPr txBox="1">
            <a:spLocks noGrp="1"/>
          </p:cNvSpPr>
          <p:nvPr>
            <p:ph type="sldNum" idx="12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197" name="Google Shape;197;g3cdc81bc4c8_0_21"/>
          <p:cNvPicPr preferRelativeResize="0"/>
          <p:nvPr/>
        </p:nvPicPr>
        <p:blipFill rotWithShape="1">
          <a:blip r:embed="rId3">
            <a:alphaModFix/>
          </a:blip>
          <a:srcRect t="5536"/>
          <a:stretch/>
        </p:blipFill>
        <p:spPr>
          <a:xfrm>
            <a:off x="393300" y="1825625"/>
            <a:ext cx="10540513" cy="44862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cdc81bc4c8_1_44"/>
          <p:cNvSpPr txBox="1">
            <a:spLocks noGrp="1"/>
          </p:cNvSpPr>
          <p:nvPr>
            <p:ph type="title"/>
          </p:nvPr>
        </p:nvSpPr>
        <p:spPr>
          <a:xfrm>
            <a:off x="4539743" y="691700"/>
            <a:ext cx="3112500" cy="70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Orientation</a:t>
            </a:r>
            <a:endParaRPr/>
          </a:p>
        </p:txBody>
      </p:sp>
      <p:sp>
        <p:nvSpPr>
          <p:cNvPr id="204" name="Google Shape;204;g3cdc81bc4c8_1_44"/>
          <p:cNvSpPr txBox="1">
            <a:spLocks noGrp="1"/>
          </p:cNvSpPr>
          <p:nvPr>
            <p:ph type="body" idx="1"/>
          </p:nvPr>
        </p:nvSpPr>
        <p:spPr>
          <a:xfrm>
            <a:off x="876750" y="1825625"/>
            <a:ext cx="10214400" cy="4294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6"/>
              <a:buNone/>
            </a:pPr>
            <a:r>
              <a:rPr lang="en-US" sz="21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 Detection:</a:t>
            </a:r>
            <a:endParaRPr sz="21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2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Classifies the camera viewpoint using wrist–eye–shoulder geometry: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62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○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Signer View (front)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62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○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 View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620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○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Bird View (top)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6"/>
              <a:buFont typeface="Arial"/>
              <a:buNone/>
            </a:pPr>
            <a:r>
              <a:rPr lang="en-US" sz="21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Finger Orientation:</a:t>
            </a:r>
            <a:endParaRPr sz="21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20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wrist → index-tip vector + depth/tilt.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20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Mapped to HamNoSys directional classes (e.g., hamextfingeru, hamextfingerdl, etc).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6"/>
              <a:buFont typeface="Arial"/>
              <a:buNone/>
            </a:pPr>
            <a:r>
              <a:rPr lang="en-US" sz="21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Palm Orientation (Implemented):</a:t>
            </a:r>
            <a:endParaRPr sz="21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 vector from index MCP × pinky MCP.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Mapped to 8 HamNoSys palm directions (e.g., hampalmu, hampalmul, etc).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g3cdc81bc4c8_1_44"/>
          <p:cNvSpPr txBox="1">
            <a:spLocks noGrp="1"/>
          </p:cNvSpPr>
          <p:nvPr>
            <p:ph type="sldNum" idx="12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3e1cf4600_0_536"/>
          <p:cNvSpPr txBox="1">
            <a:spLocks noGrp="1"/>
          </p:cNvSpPr>
          <p:nvPr>
            <p:ph type="title"/>
          </p:nvPr>
        </p:nvSpPr>
        <p:spPr>
          <a:xfrm>
            <a:off x="3846475" y="705900"/>
            <a:ext cx="4146000" cy="70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Location Module</a:t>
            </a:r>
            <a:endParaRPr/>
          </a:p>
        </p:txBody>
      </p:sp>
      <p:sp>
        <p:nvSpPr>
          <p:cNvPr id="212" name="Google Shape;212;g3c3e1cf4600_0_536"/>
          <p:cNvSpPr txBox="1">
            <a:spLocks noGrp="1"/>
          </p:cNvSpPr>
          <p:nvPr>
            <p:ph type="body" idx="1"/>
          </p:nvPr>
        </p:nvSpPr>
        <p:spPr>
          <a:xfrm>
            <a:off x="909025" y="2148350"/>
            <a:ext cx="10020900" cy="3325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HamNoSys</a:t>
            </a: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Location describes where a sign is produced relative to the signer’s body.</a:t>
            </a: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systematic recognition, locations are divided into the following groups:</a:t>
            </a: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Head &amp; Face Locations </a:t>
            </a: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(forehead, nose, lips, chin, eyes, ears, etc.)</a:t>
            </a: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Upper Body Locations </a:t>
            </a: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(shoulders, chest, stomach, arms, wrist)</a:t>
            </a: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 Locations </a:t>
            </a: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(palm, thumb base, hand back, thumb side, pinky side)</a:t>
            </a: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Finger Locations </a:t>
            </a: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(fingertips, finger joints, between fingers)</a:t>
            </a: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Contact Types </a:t>
            </a: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(touch, close, brush, interlock, cross)</a:t>
            </a:r>
            <a:endParaRPr sz="2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US" sz="21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Arm &amp; Space Positions </a:t>
            </a:r>
            <a:r>
              <a:rPr lang="en-US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(neutral space, arm extended, beside body)</a:t>
            </a:r>
            <a:endParaRPr sz="21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g3c3e1cf4600_0_536"/>
          <p:cNvSpPr txBox="1">
            <a:spLocks noGrp="1"/>
          </p:cNvSpPr>
          <p:nvPr>
            <p:ph type="sldNum" idx="12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3e1cf4600_0_545"/>
          <p:cNvSpPr txBox="1">
            <a:spLocks noGrp="1"/>
          </p:cNvSpPr>
          <p:nvPr>
            <p:ph type="title"/>
          </p:nvPr>
        </p:nvSpPr>
        <p:spPr>
          <a:xfrm>
            <a:off x="3586820" y="554200"/>
            <a:ext cx="5501100" cy="70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Head &amp; Face Location</a:t>
            </a:r>
            <a:endParaRPr/>
          </a:p>
        </p:txBody>
      </p:sp>
      <p:sp>
        <p:nvSpPr>
          <p:cNvPr id="220" name="Google Shape;220;g3c3e1cf4600_0_545"/>
          <p:cNvSpPr txBox="1">
            <a:spLocks noGrp="1"/>
          </p:cNvSpPr>
          <p:nvPr>
            <p:ph type="body" idx="1"/>
          </p:nvPr>
        </p:nvSpPr>
        <p:spPr>
          <a:xfrm>
            <a:off x="286600" y="1690825"/>
            <a:ext cx="11546100" cy="4897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19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Goal:</a:t>
            </a:r>
            <a:br>
              <a:rPr lang="en-US" sz="19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Identify which part of the head or face is being touched during signing.                                                    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19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</a:t>
            </a:r>
            <a:endParaRPr sz="19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●"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MediaPipe detects the face bounding box (hairline → chin).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		face_h = y2 - y1 , </a:t>
            </a:r>
            <a:r>
              <a:rPr lang="en-US" sz="19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Face height = Hairline → Chin</a:t>
            </a:r>
            <a:endParaRPr sz="19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-US" sz="19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fingertip positions are normalized as:</a:t>
            </a:r>
            <a:endParaRPr sz="19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-US" sz="19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Relative vertical position (rel_y) = 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(finger_y − face_top) / face_height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makes detection independent of face size, camera distance, and person variation.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</a:pPr>
            <a:r>
              <a:rPr lang="en-US" sz="19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Horizontal Face Division : 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face (hairline → chin) is divided into three equal horizontal parts: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Upper Third: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Hairline → Eyebrows </a:t>
            </a:r>
            <a:r>
              <a:rPr lang="en-US" sz="19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(0.00 – 0.33) (hairline, headtop, forehead)</a:t>
            </a:r>
            <a:endParaRPr sz="19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Middle Third: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Eyebrows → Nose Base </a:t>
            </a:r>
            <a:r>
              <a:rPr lang="en-US" sz="19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(0.33 – 0.66) (eyes, nose, nostrils)</a:t>
            </a:r>
            <a:endParaRPr sz="1900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 Third: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Nose Base → Chin </a:t>
            </a:r>
            <a:r>
              <a:rPr lang="en-US" sz="19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(0.66 – 1.00) (lips, teeth, chin)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g3c3e1cf4600_0_545"/>
          <p:cNvSpPr txBox="1">
            <a:spLocks noGrp="1"/>
          </p:cNvSpPr>
          <p:nvPr>
            <p:ph type="sldNum" idx="12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222" name="Google Shape;222;g3c3e1cf4600_0_5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59025" y="1690825"/>
            <a:ext cx="1607600" cy="2022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g3c3e1cf4600_0_5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53425" y="3431700"/>
            <a:ext cx="3077025" cy="315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c3e1cf4600_0_627"/>
          <p:cNvSpPr txBox="1">
            <a:spLocks noGrp="1"/>
          </p:cNvSpPr>
          <p:nvPr>
            <p:ph type="title"/>
          </p:nvPr>
        </p:nvSpPr>
        <p:spPr>
          <a:xfrm>
            <a:off x="1733265" y="365125"/>
            <a:ext cx="10099200" cy="132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30" name="Google Shape;230;g3c3e1cf4600_0_627"/>
          <p:cNvSpPr txBox="1">
            <a:spLocks noGrp="1"/>
          </p:cNvSpPr>
          <p:nvPr>
            <p:ph type="body" idx="1"/>
          </p:nvPr>
        </p:nvSpPr>
        <p:spPr>
          <a:xfrm>
            <a:off x="322950" y="1825625"/>
            <a:ext cx="11546100" cy="4588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619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 Third (0.66–1.00) represents the mouth–chin region and is divided into three equal parts.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Lips: 0.66–0.77, Teeth: 0.77–0.88, Chin: 0.88–1.00 </a:t>
            </a:r>
            <a:r>
              <a:rPr lang="en-US" sz="21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(each ≈ 1/9 of face height)</a:t>
            </a: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subdivision helps accurately detect mouth-related contact locations during signing.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Vertical Face Division (Five-Eye Rule): Face width is divided into five equal units.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●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 Ear (0.00–0.20), Left Cheek (0.20–0.40), Nose Center (0.40–0.60), Right Cheek (0.60–0.80), Right Ear (0.80–1.00).</a:t>
            </a:r>
            <a:endParaRPr sz="21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g3c3e1cf4600_0_627"/>
          <p:cNvSpPr txBox="1">
            <a:spLocks noGrp="1"/>
          </p:cNvSpPr>
          <p:nvPr>
            <p:ph type="sldNum" idx="12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232" name="Google Shape;232;g3c3e1cf4600_0_6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9963" y="3780447"/>
            <a:ext cx="1983963" cy="2633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g3c3e1cf4600_0_627" title="teeth_pres.mp4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3775" y="3968025"/>
            <a:ext cx="4751600" cy="244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g3c3e1cf4600_0_62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03975" y="5593975"/>
            <a:ext cx="4361924" cy="50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c3e1cf4600_0_643"/>
          <p:cNvSpPr txBox="1">
            <a:spLocks noGrp="1"/>
          </p:cNvSpPr>
          <p:nvPr>
            <p:ph type="title"/>
          </p:nvPr>
        </p:nvSpPr>
        <p:spPr>
          <a:xfrm>
            <a:off x="3377875" y="510375"/>
            <a:ext cx="5905800" cy="76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HAND LOCATIONS</a:t>
            </a:r>
            <a:endParaRPr/>
          </a:p>
        </p:txBody>
      </p:sp>
      <p:sp>
        <p:nvSpPr>
          <p:cNvPr id="241" name="Google Shape;241;g3c3e1cf4600_0_643"/>
          <p:cNvSpPr txBox="1">
            <a:spLocks noGrp="1"/>
          </p:cNvSpPr>
          <p:nvPr>
            <p:ph type="body" idx="1"/>
          </p:nvPr>
        </p:nvSpPr>
        <p:spPr>
          <a:xfrm>
            <a:off x="322950" y="1664250"/>
            <a:ext cx="11546100" cy="4851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Identify where the finger touches on the hand during signing.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 Regions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Thumb Ball, Palm, Back of Hand, Thumb Side, Pinky Side.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Thumb Ball Detection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32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Palm length ≈ 9 cm, thumb ball ≈ 3 cm → ratio ≈ 1/3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3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Detection threshold: distance ≤ 0.35 × palm_length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0"/>
              <a:buNone/>
            </a:pP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Palm Region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32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Palm radius ≈ 0.55 × palm_length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3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Contact near palm center → Palm location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Side Detection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(Thumb vs Pinky)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32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Palm axis: wrist → middle finger base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3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Perpendicular axis gives left–right shift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3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Positive shift → Thumb side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3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Negative shift → Pinky side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023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Near zero → Palm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0"/>
              <a:buNone/>
            </a:pPr>
            <a:r>
              <a:rPr lang="en-US" sz="1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 Hand Correction   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 hand is mirrored → direction flipped     Ensures: + = thumb side, − = pinky side for both hands.</a:t>
            </a:r>
            <a:endParaRPr sz="1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g3c3e1cf4600_0_643"/>
          <p:cNvSpPr txBox="1">
            <a:spLocks noGrp="1"/>
          </p:cNvSpPr>
          <p:nvPr>
            <p:ph type="sldNum" idx="12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243" name="Google Shape;243;g3c3e1cf4600_0_6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63050" y="1883625"/>
            <a:ext cx="3256950" cy="290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bd10703013_0_244"/>
          <p:cNvSpPr txBox="1">
            <a:spLocks noGrp="1"/>
          </p:cNvSpPr>
          <p:nvPr>
            <p:ph type="title"/>
          </p:nvPr>
        </p:nvSpPr>
        <p:spPr>
          <a:xfrm>
            <a:off x="3047250" y="724150"/>
            <a:ext cx="6097500" cy="70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Input and Output</a:t>
            </a:r>
            <a:endParaRPr/>
          </a:p>
        </p:txBody>
      </p:sp>
      <p:sp>
        <p:nvSpPr>
          <p:cNvPr id="250" name="Google Shape;250;g3bd10703013_0_244"/>
          <p:cNvSpPr txBox="1">
            <a:spLocks noGrp="1"/>
          </p:cNvSpPr>
          <p:nvPr>
            <p:ph type="sldNum" idx="12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251" name="Google Shape;251;g3bd10703013_0_244" title="Hamarmextended_1.m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3250" y="1937750"/>
            <a:ext cx="5412774" cy="331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g3bd10703013_0_244" title="Hamarmextended_output_1.mp4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34450" y="1937750"/>
            <a:ext cx="5810600" cy="331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bd129c6247_1_0"/>
          <p:cNvSpPr txBox="1">
            <a:spLocks noGrp="1"/>
          </p:cNvSpPr>
          <p:nvPr>
            <p:ph type="title"/>
          </p:nvPr>
        </p:nvSpPr>
        <p:spPr>
          <a:xfrm>
            <a:off x="4463368" y="672325"/>
            <a:ext cx="3468000" cy="70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Movement 1</a:t>
            </a:r>
            <a:endParaRPr/>
          </a:p>
        </p:txBody>
      </p:sp>
      <p:sp>
        <p:nvSpPr>
          <p:cNvPr id="259" name="Google Shape;259;g3bd129c6247_1_0"/>
          <p:cNvSpPr txBox="1">
            <a:spLocks noGrp="1"/>
          </p:cNvSpPr>
          <p:nvPr>
            <p:ph type="body" idx="1"/>
          </p:nvPr>
        </p:nvSpPr>
        <p:spPr>
          <a:xfrm>
            <a:off x="909025" y="1825775"/>
            <a:ext cx="10391400" cy="4351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Movement Module detects how the hand moves during signing.</a:t>
            </a:r>
            <a:endParaRPr sz="151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tracks the hand position in every video frame and calculates the change in position between consecutive frames.</a:t>
            </a:r>
            <a:endParaRPr sz="151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frame provides a 3D hand coordinate:</a:t>
            </a:r>
            <a:endParaRPr sz="151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movement between frames is calculated as: </a:t>
            </a:r>
            <a:endParaRPr sz="151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endParaRPr sz="151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this frame-to-frame displacement, the system extracts the following movement properties:</a:t>
            </a:r>
            <a:endParaRPr sz="151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4845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16"/>
              <a:buChar char="●"/>
            </a:pPr>
            <a:r>
              <a:rPr lang="en-US" sz="1515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Direction</a:t>
            </a:r>
            <a:r>
              <a:rPr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left, right, up, down </a:t>
            </a:r>
            <a:r>
              <a:rPr lang="en-US" sz="1515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hammovel, hammover, hammoveu, hammoved</a:t>
            </a:r>
            <a:r>
              <a:rPr lang="en-US" sz="1515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br>
              <a:rPr lang="en-US" sz="1515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15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484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6"/>
              <a:buChar char="●"/>
            </a:pPr>
            <a:r>
              <a:rPr lang="en-US" sz="1515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</a:t>
            </a:r>
            <a:r>
              <a:rPr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toward or away from the body </a:t>
            </a:r>
            <a:r>
              <a:rPr lang="en-US" sz="1515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(h</a:t>
            </a:r>
            <a:r>
              <a:rPr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ammovei, hammoveo</a:t>
            </a:r>
            <a:r>
              <a:rPr lang="en-US" sz="1515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br>
              <a:rPr lang="en-US" sz="1515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15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484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6"/>
              <a:buChar char="●"/>
            </a:pPr>
            <a:r>
              <a:rPr lang="en-US" sz="1515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Speed</a:t>
            </a:r>
            <a:r>
              <a:rPr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fast or slow movement </a:t>
            </a:r>
            <a:r>
              <a:rPr lang="en-US" sz="1515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hamfast, hamslow</a:t>
            </a:r>
            <a:r>
              <a:rPr lang="en-US" sz="1515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br>
              <a:rPr lang="en-US" sz="1515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15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484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6"/>
              <a:buChar char="●"/>
            </a:pPr>
            <a:r>
              <a:rPr lang="en-US" sz="1515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Repetition</a:t>
            </a:r>
            <a:r>
              <a:rPr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repeated movement patterns </a:t>
            </a:r>
            <a:r>
              <a:rPr lang="en-US" sz="1515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hamrepeat</a:t>
            </a:r>
            <a:r>
              <a:rPr lang="en-US" sz="1515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br>
              <a:rPr lang="en-US" sz="1515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15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484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6"/>
              <a:buChar char="●"/>
            </a:pPr>
            <a:r>
              <a:rPr lang="en-US" sz="1515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Size</a:t>
            </a:r>
            <a:r>
              <a:rPr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small or large motion </a:t>
            </a:r>
            <a:r>
              <a:rPr lang="en-US" sz="1515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hamsmallmod, hamlargemod</a:t>
            </a:r>
            <a:r>
              <a:rPr lang="en-US" sz="1515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br>
              <a:rPr lang="en-US" sz="1515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15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484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16"/>
              <a:buChar char="●"/>
            </a:pPr>
            <a:r>
              <a:rPr lang="en-US" sz="1515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 Shape</a:t>
            </a:r>
            <a:r>
              <a:rPr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straight, curved, or zigzag </a:t>
            </a:r>
            <a:r>
              <a:rPr lang="en-US" sz="1515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51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hamarc, hamzigzag</a:t>
            </a:r>
            <a:r>
              <a:rPr lang="en-US" sz="1515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515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2170"/>
              <a:buNone/>
            </a:pPr>
            <a:endParaRPr sz="1976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g3bd129c6247_1_0"/>
          <p:cNvSpPr txBox="1">
            <a:spLocks noGrp="1"/>
          </p:cNvSpPr>
          <p:nvPr>
            <p:ph type="sldNum" idx="12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261" name="Google Shape;261;g3bd129c6247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1575" y="2412625"/>
            <a:ext cx="1337065" cy="3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g3bd129c6247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1575" y="2863700"/>
            <a:ext cx="5200479" cy="36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bd2ce038e5_0_64"/>
          <p:cNvSpPr txBox="1">
            <a:spLocks noGrp="1"/>
          </p:cNvSpPr>
          <p:nvPr>
            <p:ph type="title"/>
          </p:nvPr>
        </p:nvSpPr>
        <p:spPr>
          <a:xfrm>
            <a:off x="1733265" y="365125"/>
            <a:ext cx="10099200" cy="132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69" name="Google Shape;269;g3bd2ce038e5_0_64"/>
          <p:cNvSpPr txBox="1">
            <a:spLocks noGrp="1"/>
          </p:cNvSpPr>
          <p:nvPr>
            <p:ph type="body" idx="1"/>
          </p:nvPr>
        </p:nvSpPr>
        <p:spPr>
          <a:xfrm>
            <a:off x="286603" y="1825625"/>
            <a:ext cx="11546100" cy="4351200"/>
          </a:xfrm>
          <a:prstGeom prst="rect">
            <a:avLst/>
          </a:prstGeom>
          <a:noFill/>
          <a:ln w="9525" cap="flat" cmpd="sng">
            <a:solidFill>
              <a:srgbClr val="A5002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70" name="Google Shape;270;g3bd2ce038e5_0_64"/>
          <p:cNvSpPr txBox="1">
            <a:spLocks noGrp="1"/>
          </p:cNvSpPr>
          <p:nvPr>
            <p:ph type="sldNum" idx="12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271" name="Google Shape;271;g3bd2ce038e5_0_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3588" y="2619263"/>
            <a:ext cx="3381375" cy="22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g3bd2ce038e5_0_64" title="movement1_test02.mp4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61850" y="1975475"/>
            <a:ext cx="6096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bd10703013_0_0"/>
          <p:cNvSpPr txBox="1">
            <a:spLocks noGrp="1"/>
          </p:cNvSpPr>
          <p:nvPr>
            <p:ph type="title"/>
          </p:nvPr>
        </p:nvSpPr>
        <p:spPr>
          <a:xfrm>
            <a:off x="4197475" y="679000"/>
            <a:ext cx="3789600" cy="70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Movement - 2</a:t>
            </a:r>
            <a:endParaRPr/>
          </a:p>
        </p:txBody>
      </p:sp>
      <p:sp>
        <p:nvSpPr>
          <p:cNvPr id="279" name="Google Shape;279;g3bd10703013_0_0"/>
          <p:cNvSpPr txBox="1">
            <a:spLocks noGrp="1"/>
          </p:cNvSpPr>
          <p:nvPr>
            <p:ph type="body" idx="1"/>
          </p:nvPr>
        </p:nvSpPr>
        <p:spPr>
          <a:xfrm>
            <a:off x="286603" y="1825625"/>
            <a:ext cx="11546100" cy="4351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80" name="Google Shape;280;g3bd10703013_0_0"/>
          <p:cNvSpPr txBox="1">
            <a:spLocks noGrp="1"/>
          </p:cNvSpPr>
          <p:nvPr>
            <p:ph type="sldNum" idx="12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281" name="Google Shape;281;g3bd10703013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6600" y="1894950"/>
            <a:ext cx="11611349" cy="3068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c6010fcbdd_0_45"/>
          <p:cNvSpPr txBox="1">
            <a:spLocks noGrp="1"/>
          </p:cNvSpPr>
          <p:nvPr>
            <p:ph type="title"/>
          </p:nvPr>
        </p:nvSpPr>
        <p:spPr>
          <a:xfrm>
            <a:off x="4700843" y="629100"/>
            <a:ext cx="2790300" cy="70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Integration</a:t>
            </a:r>
            <a:endParaRPr/>
          </a:p>
        </p:txBody>
      </p:sp>
      <p:sp>
        <p:nvSpPr>
          <p:cNvPr id="288" name="Google Shape;288;g3c6010fcbdd_0_45"/>
          <p:cNvSpPr txBox="1">
            <a:spLocks noGrp="1"/>
          </p:cNvSpPr>
          <p:nvPr>
            <p:ph type="body" idx="1"/>
          </p:nvPr>
        </p:nvSpPr>
        <p:spPr>
          <a:xfrm>
            <a:off x="892875" y="1825625"/>
            <a:ext cx="9924000" cy="4402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feature extraction modules are imported into the main pipeline script.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module processes the input video frame-by-frame.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modules used in the system include: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Handshape, Orientation, Arm &amp; Space, Upper Body, Head &amp; Face, Hand Location, Finger Location, Contact Type, Movement </a:t>
            </a: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every frame in the video: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module detects its respective features.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detected HamNoSys labels are generated per frame.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outputs from all modules are stored as per-frame HamNoSys tokens.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processing the complete video: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analyzes all frame-level outputs.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most frequently occurring HamNoSys labels (maximum occurrence) are selected.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selected labels are combined to form the final HamNoSys representation of the sign.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final result is the complete HamNoSys sequence describing the sign gesture.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g3c6010fcbdd_0_45"/>
          <p:cNvSpPr txBox="1">
            <a:spLocks noGrp="1"/>
          </p:cNvSpPr>
          <p:nvPr>
            <p:ph type="sldNum" idx="12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c577f268a3_0_39"/>
          <p:cNvSpPr txBox="1">
            <a:spLocks noGrp="1"/>
          </p:cNvSpPr>
          <p:nvPr>
            <p:ph type="title"/>
          </p:nvPr>
        </p:nvSpPr>
        <p:spPr>
          <a:xfrm>
            <a:off x="4700843" y="316725"/>
            <a:ext cx="2790300" cy="70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Integration</a:t>
            </a:r>
            <a:endParaRPr/>
          </a:p>
        </p:txBody>
      </p:sp>
      <p:sp>
        <p:nvSpPr>
          <p:cNvPr id="296" name="Google Shape;296;g3c577f268a3_0_39"/>
          <p:cNvSpPr txBox="1">
            <a:spLocks noGrp="1"/>
          </p:cNvSpPr>
          <p:nvPr>
            <p:ph type="sldNum" idx="12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pic>
        <p:nvPicPr>
          <p:cNvPr id="297" name="Google Shape;297;g3c577f268a3_0_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5163" y="3839525"/>
            <a:ext cx="10601675" cy="258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g3c577f268a3_0_39" title="output_p11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74250" y="1471425"/>
            <a:ext cx="3970755" cy="223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ce4bbea45e_1_1"/>
          <p:cNvSpPr txBox="1">
            <a:spLocks noGrp="1"/>
          </p:cNvSpPr>
          <p:nvPr>
            <p:ph type="title"/>
          </p:nvPr>
        </p:nvSpPr>
        <p:spPr>
          <a:xfrm>
            <a:off x="3909450" y="600075"/>
            <a:ext cx="4722486" cy="70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Avatar Verification</a:t>
            </a:r>
            <a:endParaRPr dirty="0"/>
          </a:p>
        </p:txBody>
      </p:sp>
      <p:sp>
        <p:nvSpPr>
          <p:cNvPr id="305" name="Google Shape;305;g3ce4bbea45e_1_1"/>
          <p:cNvSpPr txBox="1">
            <a:spLocks noGrp="1"/>
          </p:cNvSpPr>
          <p:nvPr>
            <p:ph type="sldNum" idx="12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306" name="Google Shape;306;g3ce4bbea45e_1_1"/>
          <p:cNvSpPr txBox="1">
            <a:spLocks noGrp="1"/>
          </p:cNvSpPr>
          <p:nvPr>
            <p:ph type="body" idx="1"/>
          </p:nvPr>
        </p:nvSpPr>
        <p:spPr>
          <a:xfrm>
            <a:off x="657175" y="1825625"/>
            <a:ext cx="11173500" cy="4713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</a:t>
            </a: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SiGMLcode is taken link: </a:t>
            </a:r>
            <a:r>
              <a:rPr lang="en-US" sz="2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https://vhg.cmp.uea.ac.uk/demo/LinguaSign/SignFiles/Hello1n.LSN.sigml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</a:t>
            </a: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Screen recorded the video for valid input: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3: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Give it as input for integration pipeline and get  HamNoSys labels.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4:</a:t>
            </a: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give the generated labels to the UI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7" name="Google Shape;307;g3ce4bbea45e_1_1" title="hello_hi_avatar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36500" y="1825625"/>
            <a:ext cx="2293950" cy="191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g3ce4bbea45e_1_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52300" y="4442725"/>
            <a:ext cx="3391474" cy="209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ce4bbea45e_1_13"/>
          <p:cNvSpPr txBox="1">
            <a:spLocks noGrp="1"/>
          </p:cNvSpPr>
          <p:nvPr>
            <p:ph type="title"/>
          </p:nvPr>
        </p:nvSpPr>
        <p:spPr>
          <a:xfrm>
            <a:off x="3364992" y="699475"/>
            <a:ext cx="4917558" cy="70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Avatar Verification</a:t>
            </a:r>
            <a:endParaRPr dirty="0"/>
          </a:p>
        </p:txBody>
      </p:sp>
      <p:sp>
        <p:nvSpPr>
          <p:cNvPr id="315" name="Google Shape;315;g3ce4bbea45e_1_13"/>
          <p:cNvSpPr txBox="1">
            <a:spLocks noGrp="1"/>
          </p:cNvSpPr>
          <p:nvPr>
            <p:ph type="sldNum" idx="12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316" name="Google Shape;316;g3ce4bbea45e_1_13"/>
          <p:cNvSpPr txBox="1">
            <a:spLocks noGrp="1"/>
          </p:cNvSpPr>
          <p:nvPr>
            <p:ph type="body" idx="1"/>
          </p:nvPr>
        </p:nvSpPr>
        <p:spPr>
          <a:xfrm>
            <a:off x="657175" y="1825625"/>
            <a:ext cx="11173500" cy="4713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5:</a:t>
            </a: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the output will be the HamNoSys symbols which will be generated.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6:</a:t>
            </a: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Copying it and running python file, SiGML code will be generated.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7: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Comparison between the input SiGML and generated SiGML.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8:</a:t>
            </a:r>
            <a:endParaRPr sz="2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○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accuracy comparison will give the verification of integration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pipeline.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7" name="Google Shape;317;g3ce4bbea45e_1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8700" y="2460950"/>
            <a:ext cx="3171751" cy="40785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18" name="Google Shape;318;g3ce4bbea45e_1_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6925" y="5849800"/>
            <a:ext cx="7454375" cy="30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cdc81bc4c8_1_15"/>
          <p:cNvSpPr txBox="1">
            <a:spLocks noGrp="1"/>
          </p:cNvSpPr>
          <p:nvPr>
            <p:ph type="title"/>
          </p:nvPr>
        </p:nvSpPr>
        <p:spPr>
          <a:xfrm>
            <a:off x="4633500" y="762675"/>
            <a:ext cx="2925000" cy="70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325" name="Google Shape;325;g3cdc81bc4c8_1_15"/>
          <p:cNvSpPr txBox="1">
            <a:spLocks noGrp="1"/>
          </p:cNvSpPr>
          <p:nvPr>
            <p:ph type="body" idx="1"/>
          </p:nvPr>
        </p:nvSpPr>
        <p:spPr>
          <a:xfrm>
            <a:off x="828350" y="1825625"/>
            <a:ext cx="10392000" cy="4710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000" b="1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  <a:r>
              <a:rPr lang="en-US" sz="1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T. Hanke, “HamNoSys—Representing sign language data in language resources and processing contexts,” in </a:t>
            </a:r>
            <a:r>
              <a:rPr lang="en-US" sz="1000" i="1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Proc. LREC Workshop on Representation and Processing of Sign Languages</a:t>
            </a:r>
            <a:r>
              <a:rPr lang="en-US" sz="1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2004, pp. 1–6. </a:t>
            </a:r>
            <a:r>
              <a:rPr lang="en-US" sz="1000" u="sng">
                <a:solidFill>
                  <a:schemeClr val="hlink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https://aclanthology.org/W04-1601.pdf</a:t>
            </a:r>
            <a:r>
              <a:rPr lang="en-US" sz="1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000" b="1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[2]</a:t>
            </a:r>
            <a:r>
              <a:rPr lang="en-US" sz="1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K. Kaur and P. Kumar, “HamNoSys to SiGML conversion system for sign language automation,” 2016. </a:t>
            </a:r>
            <a:r>
              <a:rPr lang="en-US" sz="1000" u="sng">
                <a:solidFill>
                  <a:schemeClr val="hlink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https://www.researchgate.net/publication/306362600_HamNoSys_to_SiGML_Conversion_System_for_Sign_Language_Automation</a:t>
            </a:r>
            <a:r>
              <a:rPr lang="en-US" sz="10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000" b="1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[3]</a:t>
            </a:r>
            <a:r>
              <a:rPr lang="en-US" sz="1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B. Saunders, N. C. Camgoz, and R. Bowden, “Everybody sign now: Translating spoken language to photo-realistic sign language video,” in </a:t>
            </a:r>
            <a:r>
              <a:rPr lang="en-US" sz="1000" i="1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Proc. IEEE/CVF Conf. Computer Vision and Pattern Recognition (CVPR)</a:t>
            </a:r>
            <a:r>
              <a:rPr lang="en-US" sz="1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2020. =</a:t>
            </a:r>
            <a:r>
              <a:rPr lang="en-US" sz="1000" u="sng">
                <a:solidFill>
                  <a:schemeClr val="hlink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https://arxiv.org/abs/2011.09846</a:t>
            </a:r>
            <a:endParaRPr sz="1000" b="1">
              <a:solidFill>
                <a:srgbClr val="0000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000" b="1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[4]</a:t>
            </a:r>
            <a:r>
              <a:rPr lang="en-US" sz="1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V. Skobov and Y. Lepage, “Video-to-HamNoSys automated annotation system,” in </a:t>
            </a:r>
            <a:r>
              <a:rPr lang="en-US" sz="1000" i="1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Proc. Sign Language Resources Workshop</a:t>
            </a:r>
            <a:r>
              <a:rPr lang="en-US" sz="1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2020.</a:t>
            </a:r>
            <a:r>
              <a:rPr lang="en-US" sz="1000" u="sng">
                <a:solidFill>
                  <a:schemeClr val="hlink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 https://aclanthology.org/2020.signlang-1.34.pdf 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000" b="1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[5]</a:t>
            </a:r>
            <a:r>
              <a:rPr lang="en-US" sz="1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R. S. Shalev-Arkushin, A. Moryossef, and O. Fried, “Ham2Pose: Animating sign language notation into pose sequences,” 2022.</a:t>
            </a:r>
            <a:r>
              <a:rPr lang="en-US" sz="1000" u="sng">
                <a:solidFill>
                  <a:schemeClr val="hlink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7"/>
              </a:rPr>
              <a:t> https://arxiv.org/abs/2211.13613 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000" b="1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[6]</a:t>
            </a:r>
            <a:r>
              <a:rPr lang="en-US" sz="1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M. Aziz and A. Othman, “Evolution and trends in sign language avatar systems: Unveiling a 40-year journey via systematic review,” </a:t>
            </a:r>
            <a:r>
              <a:rPr lang="en-US" sz="1000" i="1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Journal of Computer Languages</a:t>
            </a:r>
            <a:r>
              <a:rPr lang="en-US" sz="1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2023. </a:t>
            </a:r>
            <a:r>
              <a:rPr lang="en-US" sz="1000" u="sng">
                <a:solidFill>
                  <a:schemeClr val="hlink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8"/>
              </a:rPr>
              <a:t>https://www.mdpi.com/2414-4088/7/10/97 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000" b="1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[7]</a:t>
            </a:r>
            <a:r>
              <a:rPr lang="en-US" sz="1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M.-P. Forte, M. Villa-Monedero, A. Pomirski, D. Sáez-Trigueros, and R. San-Segundo, “Reconstructing signing avatars from video using linguistic priors,” </a:t>
            </a:r>
            <a:r>
              <a:rPr lang="en-US" sz="1000" i="1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IEEE Transactions on Visualization and Computer Graphics</a:t>
            </a:r>
            <a:r>
              <a:rPr lang="en-US" sz="1000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2023. </a:t>
            </a:r>
            <a:r>
              <a:rPr lang="en-US" sz="1000" u="sng">
                <a:solidFill>
                  <a:schemeClr val="hlink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9"/>
              </a:rPr>
              <a:t> https://ieeexplore.ieee.org/document/10294272 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1000" b="1">
                <a:solidFill>
                  <a:srgbClr val="0000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[8]</a:t>
            </a:r>
            <a:r>
              <a:rPr lang="en-US" sz="1000">
                <a:solidFill>
                  <a:srgbClr val="0000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M. Gil-Martín, M. Villa-Monedero, A. Pomirski, D. Sáez-Trigueros, and R. San-Segundo, “Sign language motion generation from sign characteristics,” </a:t>
            </a:r>
            <a:r>
              <a:rPr lang="en-US" sz="1000" i="1">
                <a:solidFill>
                  <a:srgbClr val="0000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Computers &amp; Graphics</a:t>
            </a:r>
            <a:r>
              <a:rPr lang="en-US" sz="1000">
                <a:solidFill>
                  <a:srgbClr val="0000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vol. 113, pp. 16–27, 2023. </a:t>
            </a:r>
            <a:endParaRPr sz="1000">
              <a:solidFill>
                <a:srgbClr val="0000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1000" u="sng">
                <a:solidFill>
                  <a:schemeClr val="hlink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10"/>
              </a:rPr>
              <a:t>https://www.sciencedirect.com/science/article/pii/S0097849323000557https://www.mdpi.com/1424-8220/23/23/9365? </a:t>
            </a:r>
            <a:endParaRPr sz="10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1000" b="1">
                <a:solidFill>
                  <a:srgbClr val="0000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[9]</a:t>
            </a:r>
            <a:r>
              <a:rPr lang="en-US" sz="1000">
                <a:solidFill>
                  <a:srgbClr val="0000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D. Goyal and V. Goyal, “Development of Indian sign language dictionary using synthetic animations,” </a:t>
            </a:r>
            <a:r>
              <a:rPr lang="en-US" sz="1000" i="1">
                <a:solidFill>
                  <a:srgbClr val="0000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International Journal of Advanced Computer Science and Applications</a:t>
            </a:r>
            <a:r>
              <a:rPr lang="en-US" sz="1000">
                <a:solidFill>
                  <a:srgbClr val="0000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vol. 7, no. 5, pp. 125–131, 2016. </a:t>
            </a:r>
            <a:endParaRPr sz="1000">
              <a:solidFill>
                <a:srgbClr val="0000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1000" u="sng">
                <a:solidFill>
                  <a:schemeClr val="hlink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11"/>
              </a:rPr>
              <a:t>https://thesai.org/Publications/ViewPaper?Volume=7&amp;Issue=5&amp;Code=IJACSA&amp;SerialNo=18 </a:t>
            </a:r>
            <a:endParaRPr sz="10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70"/>
              <a:buFont typeface="Arial"/>
              <a:buNone/>
            </a:pPr>
            <a:r>
              <a:rPr lang="en-US" sz="1000" b="1">
                <a:solidFill>
                  <a:srgbClr val="0000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[10]</a:t>
            </a:r>
            <a:r>
              <a:rPr lang="en-US" sz="1000">
                <a:solidFill>
                  <a:srgbClr val="0000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R. Joshi, S. Agrawal, and A. Modi, “ISLTranslate: Dataset for translating Indian sign language,” in </a:t>
            </a:r>
            <a:r>
              <a:rPr lang="en-US" sz="1000" i="1">
                <a:solidFill>
                  <a:srgbClr val="0000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Proc. 61st Annual Meeting of the Association for Computational Linguistics (ACL)</a:t>
            </a:r>
            <a:r>
              <a:rPr lang="en-US" sz="1000">
                <a:solidFill>
                  <a:srgbClr val="00000A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2023. </a:t>
            </a:r>
            <a:endParaRPr sz="1000">
              <a:solidFill>
                <a:srgbClr val="00000A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770"/>
              <a:buNone/>
            </a:pPr>
            <a:r>
              <a:rPr lang="en-US" sz="1000" u="sng">
                <a:solidFill>
                  <a:schemeClr val="hlink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  <a:hlinkClick r:id="rId12"/>
              </a:rPr>
              <a:t>https://aclanthology.org/2023.acl-long.257.pdf 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g3cdc81bc4c8_1_15"/>
          <p:cNvSpPr txBox="1">
            <a:spLocks noGrp="1"/>
          </p:cNvSpPr>
          <p:nvPr>
            <p:ph type="sldNum" idx="12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c577f268a3_0_14"/>
          <p:cNvSpPr txBox="1">
            <a:spLocks noGrp="1"/>
          </p:cNvSpPr>
          <p:nvPr>
            <p:ph type="title"/>
          </p:nvPr>
        </p:nvSpPr>
        <p:spPr>
          <a:xfrm>
            <a:off x="4832250" y="677500"/>
            <a:ext cx="2527500" cy="70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Questions</a:t>
            </a:r>
            <a:endParaRPr/>
          </a:p>
        </p:txBody>
      </p:sp>
      <p:sp>
        <p:nvSpPr>
          <p:cNvPr id="333" name="Google Shape;333;g3c577f268a3_0_14"/>
          <p:cNvSpPr txBox="1">
            <a:spLocks noGrp="1"/>
          </p:cNvSpPr>
          <p:nvPr>
            <p:ph type="body" idx="1"/>
          </p:nvPr>
        </p:nvSpPr>
        <p:spPr>
          <a:xfrm>
            <a:off x="1070375" y="2836563"/>
            <a:ext cx="3711300" cy="14520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70"/>
              <a:buNone/>
            </a:pPr>
            <a:r>
              <a:rPr lang="en-US" sz="4000" b="1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Any </a:t>
            </a:r>
            <a:endParaRPr sz="4000" b="1">
              <a:solidFill>
                <a:srgbClr val="00000A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770"/>
              <a:buNone/>
            </a:pPr>
            <a:r>
              <a:rPr lang="en-US" sz="4000" b="1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Questions?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" name="Google Shape;334;g3c577f268a3_0_14"/>
          <p:cNvSpPr txBox="1">
            <a:spLocks noGrp="1"/>
          </p:cNvSpPr>
          <p:nvPr>
            <p:ph type="sldNum" idx="12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pic>
        <p:nvPicPr>
          <p:cNvPr id="335" name="Google Shape;335;g3c577f268a3_0_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58150" y="2054963"/>
            <a:ext cx="5124450" cy="288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c577f268a3_0_22"/>
          <p:cNvSpPr txBox="1">
            <a:spLocks noGrp="1"/>
          </p:cNvSpPr>
          <p:nvPr>
            <p:ph type="title"/>
          </p:nvPr>
        </p:nvSpPr>
        <p:spPr>
          <a:xfrm>
            <a:off x="1733265" y="365125"/>
            <a:ext cx="10099200" cy="132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 </a:t>
            </a:r>
            <a:endParaRPr/>
          </a:p>
        </p:txBody>
      </p:sp>
      <p:sp>
        <p:nvSpPr>
          <p:cNvPr id="342" name="Google Shape;342;g3c577f268a3_0_22"/>
          <p:cNvSpPr txBox="1">
            <a:spLocks noGrp="1"/>
          </p:cNvSpPr>
          <p:nvPr>
            <p:ph type="body" idx="1"/>
          </p:nvPr>
        </p:nvSpPr>
        <p:spPr>
          <a:xfrm>
            <a:off x="3636075" y="2890625"/>
            <a:ext cx="4728000" cy="10158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770"/>
              <a:buNone/>
            </a:pPr>
            <a:r>
              <a:rPr lang="en-US" sz="6000" b="1">
                <a:solidFill>
                  <a:srgbClr val="00000A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Thank You!!!</a:t>
            </a:r>
            <a:endParaRPr sz="6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g3c577f268a3_0_22"/>
          <p:cNvSpPr txBox="1">
            <a:spLocks noGrp="1"/>
          </p:cNvSpPr>
          <p:nvPr>
            <p:ph type="sldNum" idx="12"/>
          </p:nvPr>
        </p:nvSpPr>
        <p:spPr>
          <a:xfrm>
            <a:off x="11300345" y="6311900"/>
            <a:ext cx="53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2658</Words>
  <Application>Microsoft Office PowerPoint</Application>
  <PresentationFormat>Widescreen</PresentationFormat>
  <Paragraphs>318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Times New Roman</vt:lpstr>
      <vt:lpstr>Basic</vt:lpstr>
      <vt:lpstr>office theme</vt:lpstr>
      <vt:lpstr>PowerPoint Presentation</vt:lpstr>
      <vt:lpstr>PowerPoint Presentation</vt:lpstr>
      <vt:lpstr>Problem Statement</vt:lpstr>
      <vt:lpstr>PowerPoint Presentation</vt:lpstr>
      <vt:lpstr>PowerPoint Presentation</vt:lpstr>
      <vt:lpstr> </vt:lpstr>
      <vt:lpstr>Literature Survey</vt:lpstr>
      <vt:lpstr>Research Gap</vt:lpstr>
      <vt:lpstr>Objective </vt:lpstr>
      <vt:lpstr>PowerPoint Presentation</vt:lpstr>
      <vt:lpstr>PowerPoint Presentation</vt:lpstr>
      <vt:lpstr>HandShape Module-Local Per Node Representation </vt:lpstr>
      <vt:lpstr> </vt:lpstr>
      <vt:lpstr>Orientation</vt:lpstr>
      <vt:lpstr>Location Module</vt:lpstr>
      <vt:lpstr>Head &amp; Face Location</vt:lpstr>
      <vt:lpstr> </vt:lpstr>
      <vt:lpstr>HAND LOCATIONS</vt:lpstr>
      <vt:lpstr>Input and Output</vt:lpstr>
      <vt:lpstr>Movement 1</vt:lpstr>
      <vt:lpstr> </vt:lpstr>
      <vt:lpstr>Movement - 2</vt:lpstr>
      <vt:lpstr>Integration</vt:lpstr>
      <vt:lpstr>Integration</vt:lpstr>
      <vt:lpstr>Avatar Verification</vt:lpstr>
      <vt:lpstr>Avatar Verification</vt:lpstr>
      <vt:lpstr>References</vt:lpstr>
      <vt:lpstr>Questions</vt:lpstr>
      <vt:lpstr>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Uma</dc:creator>
  <cp:lastModifiedBy>SRAVANI ORUGANTI</cp:lastModifiedBy>
  <cp:revision>1</cp:revision>
  <dcterms:created xsi:type="dcterms:W3CDTF">2022-08-04T05:54:48Z</dcterms:created>
  <dcterms:modified xsi:type="dcterms:W3CDTF">2026-03-10T07:27:26Z</dcterms:modified>
</cp:coreProperties>
</file>